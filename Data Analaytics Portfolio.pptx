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ADCEEE-F36F-4AA1-903E-FE4564F3AAAF}" v="21" dt="2026-06-04T16:00:47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81" d="100"/>
          <a:sy n="81" d="100"/>
        </p:scale>
        <p:origin x="523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vika moturi" userId="adc5efbfa8fe4cfd" providerId="LiveId" clId="{1F82A51C-4E8A-44C2-BF17-CE9FD5EB3537}"/>
    <pc:docChg chg="undo custSel addSld delSld modSld">
      <pc:chgData name="sathvika moturi" userId="adc5efbfa8fe4cfd" providerId="LiveId" clId="{1F82A51C-4E8A-44C2-BF17-CE9FD5EB3537}" dt="2026-06-04T16:01:25.108" v="126" actId="403"/>
      <pc:docMkLst>
        <pc:docMk/>
      </pc:docMkLst>
      <pc:sldChg chg="modSp mod">
        <pc:chgData name="sathvika moturi" userId="adc5efbfa8fe4cfd" providerId="LiveId" clId="{1F82A51C-4E8A-44C2-BF17-CE9FD5EB3537}" dt="2026-06-04T15:59:49.757" v="102" actId="27636"/>
        <pc:sldMkLst>
          <pc:docMk/>
          <pc:sldMk cId="3515190454" sldId="256"/>
        </pc:sldMkLst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3515190454" sldId="256"/>
            <ac:spMk id="2" creationId="{2FAA4749-1A7D-5230-D37E-325DCC628B7F}"/>
          </ac:spMkLst>
        </pc:spChg>
        <pc:spChg chg="mod">
          <ac:chgData name="sathvika moturi" userId="adc5efbfa8fe4cfd" providerId="LiveId" clId="{1F82A51C-4E8A-44C2-BF17-CE9FD5EB3537}" dt="2026-06-04T15:59:49.757" v="102" actId="27636"/>
          <ac:spMkLst>
            <pc:docMk/>
            <pc:sldMk cId="3515190454" sldId="256"/>
            <ac:spMk id="3" creationId="{F247F644-BC48-1D58-A2F8-668E72E0A464}"/>
          </ac:spMkLst>
        </pc:spChg>
      </pc:sldChg>
      <pc:sldChg chg="modSp mod">
        <pc:chgData name="sathvika moturi" userId="adc5efbfa8fe4cfd" providerId="LiveId" clId="{1F82A51C-4E8A-44C2-BF17-CE9FD5EB3537}" dt="2026-06-04T15:59:49.770" v="103" actId="27636"/>
        <pc:sldMkLst>
          <pc:docMk/>
          <pc:sldMk cId="1313600038" sldId="259"/>
        </pc:sldMkLst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1313600038" sldId="259"/>
            <ac:spMk id="2" creationId="{E41F4A60-7A0A-F49E-698D-83999A3738ED}"/>
          </ac:spMkLst>
        </pc:spChg>
        <pc:spChg chg="mod">
          <ac:chgData name="sathvika moturi" userId="adc5efbfa8fe4cfd" providerId="LiveId" clId="{1F82A51C-4E8A-44C2-BF17-CE9FD5EB3537}" dt="2026-06-04T15:59:49.770" v="103" actId="27636"/>
          <ac:spMkLst>
            <pc:docMk/>
            <pc:sldMk cId="1313600038" sldId="259"/>
            <ac:spMk id="3" creationId="{ECB40DB5-CF8A-3E6F-FDA7-144721AF4C17}"/>
          </ac:spMkLst>
        </pc:spChg>
      </pc:sldChg>
      <pc:sldChg chg="modSp mod">
        <pc:chgData name="sathvika moturi" userId="adc5efbfa8fe4cfd" providerId="LiveId" clId="{1F82A51C-4E8A-44C2-BF17-CE9FD5EB3537}" dt="2026-06-04T15:59:49.616" v="101"/>
        <pc:sldMkLst>
          <pc:docMk/>
          <pc:sldMk cId="916224663" sldId="260"/>
        </pc:sldMkLst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916224663" sldId="260"/>
            <ac:spMk id="2" creationId="{38C14D2D-508F-CD0A-36E0-3ADD506B9D9C}"/>
          </ac:spMkLst>
        </pc:spChg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916224663" sldId="260"/>
            <ac:spMk id="3" creationId="{0AD0FFC4-6078-C031-3B0A-59A615938D23}"/>
          </ac:spMkLst>
        </pc:spChg>
      </pc:sldChg>
      <pc:sldChg chg="modSp">
        <pc:chgData name="sathvika moturi" userId="adc5efbfa8fe4cfd" providerId="LiveId" clId="{1F82A51C-4E8A-44C2-BF17-CE9FD5EB3537}" dt="2026-06-04T15:59:49.616" v="101"/>
        <pc:sldMkLst>
          <pc:docMk/>
          <pc:sldMk cId="2112748147" sldId="261"/>
        </pc:sldMkLst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2112748147" sldId="261"/>
            <ac:spMk id="2" creationId="{F11D1BD4-6A74-8C9F-4D4F-1FD250439331}"/>
          </ac:spMkLst>
        </pc:spChg>
        <pc:spChg chg="mod">
          <ac:chgData name="sathvika moturi" userId="adc5efbfa8fe4cfd" providerId="LiveId" clId="{1F82A51C-4E8A-44C2-BF17-CE9FD5EB3537}" dt="2026-06-04T15:59:49.616" v="101"/>
          <ac:spMkLst>
            <pc:docMk/>
            <pc:sldMk cId="2112748147" sldId="261"/>
            <ac:spMk id="3" creationId="{94F3718C-FCDD-BABA-DADA-981013FDFCE4}"/>
          </ac:spMkLst>
        </pc:spChg>
      </pc:sldChg>
      <pc:sldChg chg="new del">
        <pc:chgData name="sathvika moturi" userId="adc5efbfa8fe4cfd" providerId="LiveId" clId="{1F82A51C-4E8A-44C2-BF17-CE9FD5EB3537}" dt="2026-06-04T15:47:44.391" v="3" actId="680"/>
        <pc:sldMkLst>
          <pc:docMk/>
          <pc:sldMk cId="2707647088" sldId="262"/>
        </pc:sldMkLst>
      </pc:sldChg>
      <pc:sldChg chg="modSp new mod">
        <pc:chgData name="sathvika moturi" userId="adc5efbfa8fe4cfd" providerId="LiveId" clId="{1F82A51C-4E8A-44C2-BF17-CE9FD5EB3537}" dt="2026-06-04T15:59:49.815" v="106" actId="27636"/>
        <pc:sldMkLst>
          <pc:docMk/>
          <pc:sldMk cId="3172880578" sldId="262"/>
        </pc:sldMkLst>
        <pc:spChg chg="mod">
          <ac:chgData name="sathvika moturi" userId="adc5efbfa8fe4cfd" providerId="LiveId" clId="{1F82A51C-4E8A-44C2-BF17-CE9FD5EB3537}" dt="2026-06-04T15:59:49.815" v="106" actId="27636"/>
          <ac:spMkLst>
            <pc:docMk/>
            <pc:sldMk cId="3172880578" sldId="262"/>
            <ac:spMk id="2" creationId="{67DC0641-7980-5D54-D844-892C3A492779}"/>
          </ac:spMkLst>
        </pc:spChg>
        <pc:spChg chg="mod">
          <ac:chgData name="sathvika moturi" userId="adc5efbfa8fe4cfd" providerId="LiveId" clId="{1F82A51C-4E8A-44C2-BF17-CE9FD5EB3537}" dt="2026-06-04T15:59:49.810" v="104" actId="27636"/>
          <ac:spMkLst>
            <pc:docMk/>
            <pc:sldMk cId="3172880578" sldId="262"/>
            <ac:spMk id="3" creationId="{56E2B246-DFAA-8631-8A6C-EC94FEEB022C}"/>
          </ac:spMkLst>
        </pc:spChg>
        <pc:spChg chg="mod">
          <ac:chgData name="sathvika moturi" userId="adc5efbfa8fe4cfd" providerId="LiveId" clId="{1F82A51C-4E8A-44C2-BF17-CE9FD5EB3537}" dt="2026-06-04T15:59:49.812" v="105" actId="27636"/>
          <ac:spMkLst>
            <pc:docMk/>
            <pc:sldMk cId="3172880578" sldId="262"/>
            <ac:spMk id="4" creationId="{08ACF0A3-453A-E30E-5C08-1CB3ABA08337}"/>
          </ac:spMkLst>
        </pc:spChg>
      </pc:sldChg>
      <pc:sldChg chg="new del">
        <pc:chgData name="sathvika moturi" userId="adc5efbfa8fe4cfd" providerId="LiveId" clId="{1F82A51C-4E8A-44C2-BF17-CE9FD5EB3537}" dt="2026-06-04T15:47:10.320" v="1" actId="680"/>
        <pc:sldMkLst>
          <pc:docMk/>
          <pc:sldMk cId="3835230755" sldId="262"/>
        </pc:sldMkLst>
      </pc:sldChg>
      <pc:sldChg chg="addSp delSp modSp new mod">
        <pc:chgData name="sathvika moturi" userId="adc5efbfa8fe4cfd" providerId="LiveId" clId="{1F82A51C-4E8A-44C2-BF17-CE9FD5EB3537}" dt="2026-06-04T15:54:38.866" v="57" actId="1076"/>
        <pc:sldMkLst>
          <pc:docMk/>
          <pc:sldMk cId="2612103343" sldId="263"/>
        </pc:sldMkLst>
        <pc:spChg chg="add mod">
          <ac:chgData name="sathvika moturi" userId="adc5efbfa8fe4cfd" providerId="LiveId" clId="{1F82A51C-4E8A-44C2-BF17-CE9FD5EB3537}" dt="2026-06-04T15:53:13.636" v="50" actId="14100"/>
          <ac:spMkLst>
            <pc:docMk/>
            <pc:sldMk cId="2612103343" sldId="263"/>
            <ac:spMk id="2" creationId="{7D941958-9FBA-C2C8-AE9B-05DF60B8CE40}"/>
          </ac:spMkLst>
        </pc:spChg>
        <pc:spChg chg="add del mod">
          <ac:chgData name="sathvika moturi" userId="adc5efbfa8fe4cfd" providerId="LiveId" clId="{1F82A51C-4E8A-44C2-BF17-CE9FD5EB3537}" dt="2026-06-04T15:53:27.424" v="53"/>
          <ac:spMkLst>
            <pc:docMk/>
            <pc:sldMk cId="2612103343" sldId="263"/>
            <ac:spMk id="3" creationId="{0D0FF559-231D-63CC-878D-51941D15315E}"/>
          </ac:spMkLst>
        </pc:spChg>
        <pc:spChg chg="add mod">
          <ac:chgData name="sathvika moturi" userId="adc5efbfa8fe4cfd" providerId="LiveId" clId="{1F82A51C-4E8A-44C2-BF17-CE9FD5EB3537}" dt="2026-06-04T15:54:38.866" v="57" actId="1076"/>
          <ac:spMkLst>
            <pc:docMk/>
            <pc:sldMk cId="2612103343" sldId="263"/>
            <ac:spMk id="4" creationId="{FDDAB34A-3108-21CB-EA54-890D3553086B}"/>
          </ac:spMkLst>
        </pc:spChg>
      </pc:sldChg>
      <pc:sldChg chg="new del">
        <pc:chgData name="sathvika moturi" userId="adc5efbfa8fe4cfd" providerId="LiveId" clId="{1F82A51C-4E8A-44C2-BF17-CE9FD5EB3537}" dt="2026-06-04T15:51:50.794" v="39" actId="680"/>
        <pc:sldMkLst>
          <pc:docMk/>
          <pc:sldMk cId="3402409877" sldId="263"/>
        </pc:sldMkLst>
      </pc:sldChg>
      <pc:sldChg chg="addSp modSp new mod">
        <pc:chgData name="sathvika moturi" userId="adc5efbfa8fe4cfd" providerId="LiveId" clId="{1F82A51C-4E8A-44C2-BF17-CE9FD5EB3537}" dt="2026-06-04T15:57:23.731" v="71" actId="20577"/>
        <pc:sldMkLst>
          <pc:docMk/>
          <pc:sldMk cId="3662063482" sldId="264"/>
        </pc:sldMkLst>
        <pc:spChg chg="add mod">
          <ac:chgData name="sathvika moturi" userId="adc5efbfa8fe4cfd" providerId="LiveId" clId="{1F82A51C-4E8A-44C2-BF17-CE9FD5EB3537}" dt="2026-06-04T15:57:23.731" v="71" actId="20577"/>
          <ac:spMkLst>
            <pc:docMk/>
            <pc:sldMk cId="3662063482" sldId="264"/>
            <ac:spMk id="2" creationId="{6B21FF24-6506-AFA9-C686-E6C1695A08A1}"/>
          </ac:spMkLst>
        </pc:spChg>
      </pc:sldChg>
      <pc:sldChg chg="addSp modSp new mod">
        <pc:chgData name="sathvika moturi" userId="adc5efbfa8fe4cfd" providerId="LiveId" clId="{1F82A51C-4E8A-44C2-BF17-CE9FD5EB3537}" dt="2026-06-04T15:59:23.798" v="84" actId="20577"/>
        <pc:sldMkLst>
          <pc:docMk/>
          <pc:sldMk cId="16719523" sldId="265"/>
        </pc:sldMkLst>
        <pc:spChg chg="add mod">
          <ac:chgData name="sathvika moturi" userId="adc5efbfa8fe4cfd" providerId="LiveId" clId="{1F82A51C-4E8A-44C2-BF17-CE9FD5EB3537}" dt="2026-06-04T15:59:23.798" v="84" actId="20577"/>
          <ac:spMkLst>
            <pc:docMk/>
            <pc:sldMk cId="16719523" sldId="265"/>
            <ac:spMk id="2" creationId="{0EF8C269-A98C-F5A3-DE15-605EF3587287}"/>
          </ac:spMkLst>
        </pc:spChg>
      </pc:sldChg>
      <pc:sldChg chg="addSp modSp new mod">
        <pc:chgData name="sathvika moturi" userId="adc5efbfa8fe4cfd" providerId="LiveId" clId="{1F82A51C-4E8A-44C2-BF17-CE9FD5EB3537}" dt="2026-06-04T16:01:25.108" v="126" actId="403"/>
        <pc:sldMkLst>
          <pc:docMk/>
          <pc:sldMk cId="1521856039" sldId="266"/>
        </pc:sldMkLst>
        <pc:spChg chg="add mod">
          <ac:chgData name="sathvika moturi" userId="adc5efbfa8fe4cfd" providerId="LiveId" clId="{1F82A51C-4E8A-44C2-BF17-CE9FD5EB3537}" dt="2026-06-04T16:01:25.108" v="126" actId="403"/>
          <ac:spMkLst>
            <pc:docMk/>
            <pc:sldMk cId="1521856039" sldId="266"/>
            <ac:spMk id="2" creationId="{9050E96D-70AA-F9CF-7F75-50F1E141BC50}"/>
          </ac:spMkLst>
        </pc:spChg>
      </pc:sldChg>
      <pc:sldChg chg="new del">
        <pc:chgData name="sathvika moturi" userId="adc5efbfa8fe4cfd" providerId="LiveId" clId="{1F82A51C-4E8A-44C2-BF17-CE9FD5EB3537}" dt="2026-06-04T16:00:11.778" v="108" actId="680"/>
        <pc:sldMkLst>
          <pc:docMk/>
          <pc:sldMk cId="3124195075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24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51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59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22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1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92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97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4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1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99469C2-E34B-4199-BA44-D236DC491C8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88CD12D-E82C-4C6E-8CC6-AFBAA76BFCB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71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4749-1A7D-5230-D37E-325DCC628B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Analytics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7F644-BC48-1D58-A2F8-668E72E0A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err="1"/>
              <a:t>ApexPlanet</a:t>
            </a:r>
            <a:r>
              <a:rPr lang="en-IN" b="1" dirty="0"/>
              <a:t> Software </a:t>
            </a:r>
            <a:r>
              <a:rPr lang="en-IN" b="1" dirty="0" err="1"/>
              <a:t>Pvt.</a:t>
            </a:r>
            <a:r>
              <a:rPr lang="en-IN" b="1" dirty="0"/>
              <a:t> Ltd.</a:t>
            </a:r>
          </a:p>
          <a:p>
            <a:r>
              <a:rPr lang="en-IN" b="1" dirty="0"/>
              <a:t>Presented By:</a:t>
            </a:r>
            <a:r>
              <a:rPr lang="en-IN" dirty="0"/>
              <a:t> Sathvika Moturi</a:t>
            </a:r>
          </a:p>
          <a:p>
            <a:r>
              <a:rPr lang="en-IN" b="1" dirty="0"/>
              <a:t>Duration:</a:t>
            </a:r>
            <a:r>
              <a:rPr lang="en-IN" dirty="0"/>
              <a:t> 60-Day Data Analytics Internship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9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452F6-495A-22FA-CF60-118D95185241}"/>
              </a:ext>
            </a:extLst>
          </p:cNvPr>
          <p:cNvSpPr txBox="1"/>
          <p:nvPr/>
        </p:nvSpPr>
        <p:spPr>
          <a:xfrm>
            <a:off x="541867" y="541867"/>
            <a:ext cx="11277600" cy="594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Internship Objective</a:t>
            </a:r>
          </a:p>
          <a:p>
            <a:r>
              <a:rPr lang="en-IN" dirty="0"/>
              <a:t>To develop practical skills in Data Analytics by working on real-world datasets and completing end-to-end analytics projects, from data preparation to business storytelling.</a:t>
            </a:r>
          </a:p>
          <a:p>
            <a:r>
              <a:rPr lang="en-IN" b="1" dirty="0"/>
              <a:t>Projects Completed</a:t>
            </a:r>
          </a:p>
          <a:p>
            <a:r>
              <a:rPr lang="en-IN" dirty="0"/>
              <a:t>✅ </a:t>
            </a:r>
            <a:r>
              <a:rPr lang="en-IN" b="1" dirty="0"/>
              <a:t>Task 1: Data Immersion &amp; Wrangling</a:t>
            </a:r>
            <a:endParaRPr lang="en-IN" dirty="0"/>
          </a:p>
          <a:p>
            <a:r>
              <a:rPr lang="en-IN" dirty="0"/>
              <a:t>Data Cleaning </a:t>
            </a:r>
          </a:p>
          <a:p>
            <a:r>
              <a:rPr lang="en-IN" dirty="0"/>
              <a:t>Data Transformation </a:t>
            </a:r>
          </a:p>
          <a:p>
            <a:r>
              <a:rPr lang="en-IN" dirty="0"/>
              <a:t>Data Quality Assessment </a:t>
            </a:r>
          </a:p>
          <a:p>
            <a:r>
              <a:rPr lang="en-IN" dirty="0"/>
              <a:t>✅ </a:t>
            </a:r>
            <a:r>
              <a:rPr lang="en-IN" b="1" dirty="0"/>
              <a:t>Task 2: Exploratory Data Analysis (EDA) &amp; Business Intelligence</a:t>
            </a:r>
            <a:endParaRPr lang="en-IN" dirty="0"/>
          </a:p>
          <a:p>
            <a:r>
              <a:rPr lang="en-IN" dirty="0"/>
              <a:t>Data Visualization </a:t>
            </a:r>
          </a:p>
          <a:p>
            <a:r>
              <a:rPr lang="en-IN" dirty="0"/>
              <a:t>Business Insights </a:t>
            </a:r>
          </a:p>
          <a:p>
            <a:r>
              <a:rPr lang="en-IN" dirty="0"/>
              <a:t>KPI Analysis </a:t>
            </a:r>
          </a:p>
          <a:p>
            <a:r>
              <a:rPr lang="en-IN" dirty="0"/>
              <a:t>✅ </a:t>
            </a:r>
            <a:r>
              <a:rPr lang="en-IN" b="1" dirty="0"/>
              <a:t>Task 3: Deep-Dive Analysis &amp; Interactive Dashboarding</a:t>
            </a:r>
            <a:endParaRPr lang="en-IN" dirty="0"/>
          </a:p>
          <a:p>
            <a:r>
              <a:rPr lang="en-IN" dirty="0"/>
              <a:t>Dashboard Development </a:t>
            </a:r>
          </a:p>
          <a:p>
            <a:r>
              <a:rPr lang="en-IN" dirty="0"/>
              <a:t>KPI Monitoring </a:t>
            </a:r>
          </a:p>
          <a:p>
            <a:r>
              <a:rPr lang="en-IN" dirty="0"/>
              <a:t>Trend Analysis </a:t>
            </a:r>
          </a:p>
          <a:p>
            <a:r>
              <a:rPr lang="en-IN" dirty="0"/>
              <a:t>✅ </a:t>
            </a:r>
            <a:r>
              <a:rPr lang="en-IN" b="1" dirty="0"/>
              <a:t>Task 4: Data Storytelling &amp; Statistical Validation</a:t>
            </a:r>
            <a:endParaRPr lang="en-IN" dirty="0"/>
          </a:p>
          <a:p>
            <a:r>
              <a:rPr lang="en-IN" dirty="0"/>
              <a:t>Business Storytelling </a:t>
            </a:r>
          </a:p>
          <a:p>
            <a:r>
              <a:rPr lang="en-IN" dirty="0"/>
              <a:t>Hypothesis Testing </a:t>
            </a:r>
          </a:p>
          <a:p>
            <a:r>
              <a:rPr lang="en-IN" dirty="0"/>
              <a:t>Data-Driven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18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4A60-7A0A-F49E-698D-83999A37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1 – Data Immersion &amp;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0DB5-CF8A-3E6F-FDA7-144721AF4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Activities Performed</a:t>
            </a:r>
          </a:p>
          <a:p>
            <a:r>
              <a:rPr lang="en-IN" dirty="0"/>
              <a:t>Data Collection </a:t>
            </a:r>
          </a:p>
          <a:p>
            <a:r>
              <a:rPr lang="en-IN" dirty="0"/>
              <a:t>Data Profiling </a:t>
            </a:r>
          </a:p>
          <a:p>
            <a:r>
              <a:rPr lang="en-IN" dirty="0"/>
              <a:t>Missing Value Analysis </a:t>
            </a:r>
          </a:p>
          <a:p>
            <a:r>
              <a:rPr lang="en-IN" dirty="0"/>
              <a:t>Duplicate Removal 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Data Transformation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pPr marL="0" indent="0">
              <a:buNone/>
            </a:pPr>
            <a:r>
              <a:rPr lang="en-IN" dirty="0"/>
              <a:t>Created an analysis-ready dataset for further exploration.</a:t>
            </a:r>
          </a:p>
          <a:p>
            <a:pPr marL="0" indent="0">
              <a:buNone/>
            </a:pPr>
            <a:r>
              <a:rPr lang="en-IN" b="1" dirty="0"/>
              <a:t>Skills Used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Data Cleaning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60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4D2D-508F-CD0A-36E0-3ADD506B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2 – EDA &amp; Business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0FFC4-6078-C031-3B0A-59A615938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Activities Performed</a:t>
            </a:r>
          </a:p>
          <a:p>
            <a:r>
              <a:rPr lang="en-IN" dirty="0"/>
              <a:t>Descriptive Statistics </a:t>
            </a:r>
          </a:p>
          <a:p>
            <a:r>
              <a:rPr lang="en-IN" dirty="0"/>
              <a:t>Data Visualization </a:t>
            </a:r>
          </a:p>
          <a:p>
            <a:r>
              <a:rPr lang="en-IN" dirty="0"/>
              <a:t>Business Question Analysis </a:t>
            </a:r>
          </a:p>
          <a:p>
            <a:r>
              <a:rPr lang="en-IN" dirty="0"/>
              <a:t>SQL Queries </a:t>
            </a:r>
          </a:p>
          <a:p>
            <a:r>
              <a:rPr lang="en-IN" dirty="0"/>
              <a:t>KPI Identification </a:t>
            </a:r>
          </a:p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r>
              <a:rPr lang="en-IN" dirty="0"/>
              <a:t>Department-wise employee distribution </a:t>
            </a:r>
          </a:p>
          <a:p>
            <a:r>
              <a:rPr lang="en-IN" dirty="0"/>
              <a:t>Salary patterns </a:t>
            </a:r>
          </a:p>
          <a:p>
            <a:r>
              <a:rPr lang="en-IN" dirty="0"/>
              <a:t>Performance trends </a:t>
            </a:r>
          </a:p>
          <a:p>
            <a:pPr marL="0" indent="0">
              <a:buNone/>
            </a:pPr>
            <a:r>
              <a:rPr lang="en-IN" b="1" dirty="0"/>
              <a:t>Skills Used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Matplotlib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22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1BD4-6A74-8C9F-4D4F-1FD25043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 – 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718C-FCDD-BABA-DADA-981013FD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b="1" dirty="0"/>
              <a:t>Dashboard Components</a:t>
            </a:r>
          </a:p>
          <a:p>
            <a:r>
              <a:rPr lang="en-IN" sz="1400" dirty="0"/>
              <a:t>Employees by Department </a:t>
            </a:r>
          </a:p>
          <a:p>
            <a:r>
              <a:rPr lang="en-IN" sz="1400" dirty="0"/>
              <a:t>Performance Score Analysis </a:t>
            </a:r>
          </a:p>
          <a:p>
            <a:r>
              <a:rPr lang="en-IN" sz="1400" dirty="0"/>
              <a:t>Employee Distribution </a:t>
            </a:r>
          </a:p>
          <a:p>
            <a:r>
              <a:rPr lang="en-IN" sz="1400" dirty="0"/>
              <a:t>Experience vs Salary </a:t>
            </a:r>
          </a:p>
          <a:p>
            <a:r>
              <a:rPr lang="en-IN" sz="1400" b="1" dirty="0"/>
              <a:t>Key Findings</a:t>
            </a:r>
          </a:p>
          <a:p>
            <a:r>
              <a:rPr lang="en-IN" sz="1400" dirty="0"/>
              <a:t>Sales and IT departments contain 60% of employees. </a:t>
            </a:r>
          </a:p>
          <a:p>
            <a:r>
              <a:rPr lang="en-IN" sz="1400" dirty="0"/>
              <a:t>Most employees scored above 80. </a:t>
            </a:r>
          </a:p>
          <a:p>
            <a:r>
              <a:rPr lang="en-IN" sz="1400" dirty="0"/>
              <a:t>Strong positive relationship between experience and salary.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33FFA-6BDB-2345-F1EA-01C8145E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51" y="1690689"/>
            <a:ext cx="5573241" cy="299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4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0641-7980-5D54-D844-892C3A49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Task 4 – Data Storytelling &amp;Statistical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B246-DFAA-8631-8A6C-EC94FEEB02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/>
              <a:t>Business Story</a:t>
            </a:r>
          </a:p>
          <a:p>
            <a:r>
              <a:rPr lang="en-IN" sz="2400" dirty="0"/>
              <a:t>Employee analysis revealed:</a:t>
            </a:r>
          </a:p>
          <a:p>
            <a:r>
              <a:rPr lang="en-IN" sz="2400" dirty="0"/>
              <a:t>Balanced workforce distribution </a:t>
            </a:r>
          </a:p>
          <a:p>
            <a:r>
              <a:rPr lang="en-IN" sz="2400" dirty="0"/>
              <a:t>High overall employee performance </a:t>
            </a:r>
          </a:p>
          <a:p>
            <a:r>
              <a:rPr lang="en-IN" sz="2400" dirty="0"/>
              <a:t>Experience-driven salary growth </a:t>
            </a:r>
          </a:p>
          <a:p>
            <a:pPr marL="0" indent="0">
              <a:buNone/>
            </a:pPr>
            <a:r>
              <a:rPr lang="en-IN" sz="2400" b="1" dirty="0"/>
              <a:t>Business Impact</a:t>
            </a:r>
          </a:p>
          <a:p>
            <a:r>
              <a:rPr lang="en-IN" sz="2400" dirty="0"/>
              <a:t>Supports better HR decisions and workforce planning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F0A3-453A-E30E-5C08-1CB3ABA083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600" b="1" dirty="0"/>
              <a:t>Hypothesis</a:t>
            </a:r>
          </a:p>
          <a:p>
            <a:r>
              <a:rPr lang="en-IN" sz="2600" b="1" dirty="0"/>
              <a:t>H₀:</a:t>
            </a:r>
            <a:r>
              <a:rPr lang="en-IN" sz="2600" dirty="0"/>
              <a:t> Experience has no significant impact on salary.</a:t>
            </a:r>
          </a:p>
          <a:p>
            <a:r>
              <a:rPr lang="en-IN" sz="2600" b="1" dirty="0"/>
              <a:t>H₁:</a:t>
            </a:r>
            <a:r>
              <a:rPr lang="en-IN" sz="2600" dirty="0"/>
              <a:t> Experience significantly impacts salary.</a:t>
            </a:r>
          </a:p>
          <a:p>
            <a:pPr marL="0" indent="0">
              <a:buNone/>
            </a:pPr>
            <a:r>
              <a:rPr lang="en-IN" sz="2600" b="1" dirty="0"/>
              <a:t>Method</a:t>
            </a:r>
          </a:p>
          <a:p>
            <a:r>
              <a:rPr lang="en-IN" sz="2600" dirty="0"/>
              <a:t>Correlation Analysis </a:t>
            </a:r>
          </a:p>
          <a:p>
            <a:r>
              <a:rPr lang="en-IN" sz="2600" dirty="0"/>
              <a:t>T-Test </a:t>
            </a:r>
          </a:p>
          <a:p>
            <a:pPr marL="0" indent="0">
              <a:buNone/>
            </a:pPr>
            <a:r>
              <a:rPr lang="en-IN" sz="2600" b="1" dirty="0"/>
              <a:t>Result</a:t>
            </a:r>
          </a:p>
          <a:p>
            <a:r>
              <a:rPr lang="en-IN" sz="2600" dirty="0"/>
              <a:t>The analysis showed a positive relationship between employee experience and salary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88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41958-9FBA-C2C8-AE9B-05DF60B8CE40}"/>
              </a:ext>
            </a:extLst>
          </p:cNvPr>
          <p:cNvSpPr txBox="1"/>
          <p:nvPr/>
        </p:nvSpPr>
        <p:spPr>
          <a:xfrm>
            <a:off x="471341" y="301658"/>
            <a:ext cx="6089715" cy="3836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Major Insights</a:t>
            </a:r>
          </a:p>
          <a:p>
            <a:r>
              <a:rPr lang="en-IN" sz="2000" b="1" dirty="0"/>
              <a:t>Insight 1</a:t>
            </a:r>
          </a:p>
          <a:p>
            <a:r>
              <a:rPr lang="en-IN" sz="2000" dirty="0"/>
              <a:t>IT department records the highest average salary.</a:t>
            </a:r>
          </a:p>
          <a:p>
            <a:r>
              <a:rPr lang="en-IN" sz="2000" b="1" dirty="0"/>
              <a:t>Insight 2</a:t>
            </a:r>
          </a:p>
          <a:p>
            <a:r>
              <a:rPr lang="en-IN" sz="2000" dirty="0"/>
              <a:t>Top-performing employees score above 90.</a:t>
            </a:r>
          </a:p>
          <a:p>
            <a:r>
              <a:rPr lang="en-IN" sz="2000" b="1" dirty="0"/>
              <a:t>Insight 3</a:t>
            </a:r>
          </a:p>
          <a:p>
            <a:r>
              <a:rPr lang="en-IN" sz="2000" dirty="0"/>
              <a:t>Workforce distribution is balanced across departments.</a:t>
            </a:r>
          </a:p>
          <a:p>
            <a:r>
              <a:rPr lang="en-IN" sz="2000" b="1" dirty="0"/>
              <a:t>Insight 4</a:t>
            </a:r>
          </a:p>
          <a:p>
            <a:r>
              <a:rPr lang="en-IN" sz="2000" dirty="0"/>
              <a:t>Experience positively influences salary.</a:t>
            </a:r>
          </a:p>
          <a:p>
            <a:r>
              <a:rPr lang="en-IN" sz="2000" b="1" dirty="0"/>
              <a:t>Insight 5</a:t>
            </a:r>
          </a:p>
          <a:p>
            <a:r>
              <a:rPr lang="en-IN" sz="2000" dirty="0"/>
              <a:t>Data-driven HR strategies can improve productivity.</a:t>
            </a:r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AB34A-3108-21CB-EA54-890D3553086B}"/>
              </a:ext>
            </a:extLst>
          </p:cNvPr>
          <p:cNvSpPr txBox="1"/>
          <p:nvPr/>
        </p:nvSpPr>
        <p:spPr>
          <a:xfrm>
            <a:off x="6683604" y="2220012"/>
            <a:ext cx="50370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Skills Acquired</a:t>
            </a:r>
          </a:p>
          <a:p>
            <a:r>
              <a:rPr lang="en-IN" b="1" dirty="0"/>
              <a:t>Technical Skills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Data Visualization </a:t>
            </a:r>
          </a:p>
          <a:p>
            <a:r>
              <a:rPr lang="en-IN" b="1" dirty="0"/>
              <a:t>Analytics Skills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EDA </a:t>
            </a:r>
          </a:p>
          <a:p>
            <a:r>
              <a:rPr lang="en-IN" dirty="0"/>
              <a:t>Dashboard Development </a:t>
            </a:r>
          </a:p>
          <a:p>
            <a:r>
              <a:rPr lang="en-IN" dirty="0"/>
              <a:t>Statistical Analysis </a:t>
            </a:r>
          </a:p>
          <a:p>
            <a:r>
              <a:rPr lang="en-IN" dirty="0"/>
              <a:t>Data Storytelling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10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1FF24-6506-AFA9-C686-E6C1695A08A1}"/>
              </a:ext>
            </a:extLst>
          </p:cNvPr>
          <p:cNvSpPr txBox="1"/>
          <p:nvPr/>
        </p:nvSpPr>
        <p:spPr>
          <a:xfrm>
            <a:off x="179109" y="395926"/>
            <a:ext cx="1033177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Learnings from the Data Analytics Internship</a:t>
            </a:r>
          </a:p>
          <a:p>
            <a:endParaRPr lang="en-IN" sz="2000" b="1" dirty="0"/>
          </a:p>
          <a:p>
            <a:r>
              <a:rPr lang="en-IN" sz="2000" b="1" dirty="0"/>
              <a:t>Technical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Learned data cleaning and preprocessing using Python and Pandas.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Performed Exploratory Data Analysis (EDA) to uncover patterns and trends.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Created meaningful visualizations using Matplotlib.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Developed interactive dashboards for business reporting.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Applied statistical techniques to validate analytical findings. </a:t>
            </a:r>
          </a:p>
          <a:p>
            <a:endParaRPr lang="en-IN" sz="2000" b="1" dirty="0"/>
          </a:p>
          <a:p>
            <a:r>
              <a:rPr lang="en-IN" sz="2000" b="1" dirty="0"/>
              <a:t>Analytical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Converted raw data into actionable business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Identified key performance indicators (KPIs) for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employee performance, salary trends, and departmental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data storytelling techniques to communicate insights effectively. </a:t>
            </a:r>
          </a:p>
          <a:p>
            <a:endParaRPr lang="en-IN" sz="2000" b="1" dirty="0"/>
          </a:p>
          <a:p>
            <a:r>
              <a:rPr lang="en-IN" sz="2000" b="1" dirty="0"/>
              <a:t>Professional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problem-solving and critical-thinking abilities.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Enhanced presentation and communication skills.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Learned project documentation and portfolio management using GitHub.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Gained experience in presenting analytical findings to stakeholders.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06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8C269-A98C-F5A3-DE15-605EF3587287}"/>
              </a:ext>
            </a:extLst>
          </p:cNvPr>
          <p:cNvSpPr txBox="1"/>
          <p:nvPr/>
        </p:nvSpPr>
        <p:spPr>
          <a:xfrm>
            <a:off x="461913" y="395926"/>
            <a:ext cx="828616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</a:t>
            </a:r>
          </a:p>
          <a:p>
            <a:endParaRPr lang="en-IN" sz="2000" dirty="0"/>
          </a:p>
          <a:p>
            <a:r>
              <a:rPr lang="en-IN" sz="2000" dirty="0"/>
              <a:t>This Data Analytics Internship provided valuable hands-on experience in working with data throughout its entire lifecycle. From data cleaning and preparation to exploratory analysis, dashboard development, and statistical validation, each task contributed to building practical analytical skills</a:t>
            </a:r>
            <a:r>
              <a:rPr lang="en-IN" dirty="0"/>
              <a:t>.</a:t>
            </a:r>
          </a:p>
          <a:p>
            <a:endParaRPr lang="en-IN" sz="2400" b="1" dirty="0"/>
          </a:p>
          <a:p>
            <a:r>
              <a:rPr lang="en-IN" sz="2400" b="1" dirty="0"/>
              <a:t>Through this internship, I successfully: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Cleaned and transformed raw data into analysis-ready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Identified meaningful patterns and trends through EDA.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Built interactive dashboards to visualize key performance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Applied data storytelling techniques to communicate business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statistical methods to validate findings and support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9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0E96D-70AA-F9CF-7F75-50F1E141BC50}"/>
              </a:ext>
            </a:extLst>
          </p:cNvPr>
          <p:cNvSpPr txBox="1"/>
          <p:nvPr/>
        </p:nvSpPr>
        <p:spPr>
          <a:xfrm>
            <a:off x="1055802" y="537326"/>
            <a:ext cx="873864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Final Takeaway</a:t>
            </a:r>
          </a:p>
          <a:p>
            <a:endParaRPr lang="en-IN" dirty="0"/>
          </a:p>
          <a:p>
            <a:r>
              <a:rPr lang="en-IN" dirty="0"/>
              <a:t>This internship strengthened my technical, analytical, and problem-solving skills while giving me practical exposure to real-world data analytics projects. The knowledge and experience gained will help me confidently tackle future data-driven challenges and contribute effectively in the field of Data Analytics.</a:t>
            </a:r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sz="3200" b="1" dirty="0"/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8560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637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Data Analytics Internship Portfolio</vt:lpstr>
      <vt:lpstr>PowerPoint Presentation</vt:lpstr>
      <vt:lpstr>Task 1 – Data Immersion &amp; Wrangling</vt:lpstr>
      <vt:lpstr>Task 2 – EDA &amp; Business Intelligence</vt:lpstr>
      <vt:lpstr>Task 3 – Interactive Dashboard</vt:lpstr>
      <vt:lpstr>Task 4 – Data Storytelling &amp;Statistical Validation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sathvika moturi</dc:creator>
  <cp:lastModifiedBy>sathvika moturi</cp:lastModifiedBy>
  <cp:revision>1</cp:revision>
  <dcterms:created xsi:type="dcterms:W3CDTF">2026-06-04T15:38:13Z</dcterms:created>
  <dcterms:modified xsi:type="dcterms:W3CDTF">2026-06-04T16:01:33Z</dcterms:modified>
</cp:coreProperties>
</file>